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kzidenz-Grotesk Bold" charset="1" panose="02000803050000020004"/>
      <p:regular r:id="rId16"/>
    </p:embeddedFont>
    <p:embeddedFont>
      <p:font typeface="Open Sauce Bold" charset="1" panose="00000800000000000000"/>
      <p:regular r:id="rId17"/>
    </p:embeddedFont>
    <p:embeddedFont>
      <p:font typeface="Open Sauce Medium" charset="1" panose="00000600000000000000"/>
      <p:regular r:id="rId18"/>
    </p:embeddedFont>
    <p:embeddedFont>
      <p:font typeface="Akzidenz-Grotesk Bold Italics" charset="1" panose="02000803060000090004"/>
      <p:regular r:id="rId19"/>
    </p:embeddedFont>
    <p:embeddedFont>
      <p:font typeface="Open Sauce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3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4.png" Type="http://schemas.openxmlformats.org/officeDocument/2006/relationships/image"/><Relationship Id="rId8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4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Relationship Id="rId4" Target="../media/image7.png" Type="http://schemas.openxmlformats.org/officeDocument/2006/relationships/image"/><Relationship Id="rId5" Target="../media/image9.png" Type="http://schemas.openxmlformats.org/officeDocument/2006/relationships/image"/><Relationship Id="rId6" Target="../media/image21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7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7.png" Type="http://schemas.openxmlformats.org/officeDocument/2006/relationships/image"/><Relationship Id="rId2" Target="../media/image25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78379" y="-1354696"/>
            <a:ext cx="8053885" cy="4414536"/>
          </a:xfrm>
          <a:custGeom>
            <a:avLst/>
            <a:gdLst/>
            <a:ahLst/>
            <a:cxnLst/>
            <a:rect r="r" b="b" t="t" l="l"/>
            <a:pathLst>
              <a:path h="4414536" w="8053885">
                <a:moveTo>
                  <a:pt x="0" y="0"/>
                </a:moveTo>
                <a:lnTo>
                  <a:pt x="8053885" y="0"/>
                </a:lnTo>
                <a:lnTo>
                  <a:pt x="8053885" y="4414536"/>
                </a:lnTo>
                <a:lnTo>
                  <a:pt x="0" y="4414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94946" y="6145192"/>
            <a:ext cx="8053885" cy="4414536"/>
          </a:xfrm>
          <a:custGeom>
            <a:avLst/>
            <a:gdLst/>
            <a:ahLst/>
            <a:cxnLst/>
            <a:rect r="r" b="b" t="t" l="l"/>
            <a:pathLst>
              <a:path h="4414536" w="8053885">
                <a:moveTo>
                  <a:pt x="0" y="0"/>
                </a:moveTo>
                <a:lnTo>
                  <a:pt x="8053885" y="0"/>
                </a:lnTo>
                <a:lnTo>
                  <a:pt x="8053885" y="4414536"/>
                </a:lnTo>
                <a:lnTo>
                  <a:pt x="0" y="4414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50250" y="1464629"/>
            <a:ext cx="8882586" cy="7357742"/>
          </a:xfrm>
          <a:custGeom>
            <a:avLst/>
            <a:gdLst/>
            <a:ahLst/>
            <a:cxnLst/>
            <a:rect r="r" b="b" t="t" l="l"/>
            <a:pathLst>
              <a:path h="7357742" w="8882586">
                <a:moveTo>
                  <a:pt x="0" y="0"/>
                </a:moveTo>
                <a:lnTo>
                  <a:pt x="8882587" y="0"/>
                </a:lnTo>
                <a:lnTo>
                  <a:pt x="8882587" y="7357742"/>
                </a:lnTo>
                <a:lnTo>
                  <a:pt x="0" y="7357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6066" y="4802586"/>
            <a:ext cx="13618755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2"/>
              </a:lnSpc>
            </a:pPr>
            <a:r>
              <a:rPr lang="en-US" sz="7685" b="true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Bright Coffee Shop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6066" y="6282732"/>
            <a:ext cx="9025923" cy="118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6"/>
              </a:lnSpc>
              <a:spcBef>
                <a:spcPct val="0"/>
              </a:spcBef>
            </a:pPr>
            <a:r>
              <a:rPr lang="en-US" b="true" sz="2290">
                <a:solidFill>
                  <a:srgbClr val="47351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This presentation explores the foundations, operations, customer experience, menu design, marketing strategies, and future growth possibilities of bright coffee shops worldwide.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6066" y="8595957"/>
            <a:ext cx="9316042" cy="64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  <a:spcBef>
                <a:spcPct val="0"/>
              </a:spcBef>
            </a:pPr>
            <a:r>
              <a:rPr lang="en-US" b="true" sz="3825">
                <a:solidFill>
                  <a:srgbClr val="47351E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Presented By Johannes Ngwenya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91142" y="352247"/>
            <a:ext cx="2412042" cy="1526165"/>
          </a:xfrm>
          <a:custGeom>
            <a:avLst/>
            <a:gdLst/>
            <a:ahLst/>
            <a:cxnLst/>
            <a:rect r="r" b="b" t="t" l="l"/>
            <a:pathLst>
              <a:path h="1526165" w="2412042">
                <a:moveTo>
                  <a:pt x="0" y="0"/>
                </a:moveTo>
                <a:lnTo>
                  <a:pt x="2412042" y="0"/>
                </a:lnTo>
                <a:lnTo>
                  <a:pt x="2412042" y="1526164"/>
                </a:lnTo>
                <a:lnTo>
                  <a:pt x="0" y="15261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28263" y="719137"/>
            <a:ext cx="503115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3" b="true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Bright Coffee Shop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97163" y="2021615"/>
            <a:ext cx="13618755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2"/>
              </a:lnSpc>
            </a:pPr>
            <a:r>
              <a:rPr lang="en-US" sz="7685" b="true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welcome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75237" y="-988404"/>
            <a:ext cx="13618755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2"/>
              </a:lnSpc>
            </a:pPr>
            <a:r>
              <a:rPr lang="en-US" sz="7685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welcome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69002" y="3393215"/>
            <a:ext cx="13618755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2"/>
              </a:lnSpc>
            </a:pPr>
            <a:r>
              <a:rPr lang="en-US" b="true" sz="7685" i="true">
                <a:solidFill>
                  <a:srgbClr val="47351E"/>
                </a:solidFill>
                <a:latin typeface="Akzidenz-Grotesk Bold Italics"/>
                <a:ea typeface="Akzidenz-Grotesk Bold Italics"/>
                <a:cs typeface="Akzidenz-Grotesk Bold Italics"/>
                <a:sym typeface="Akzidenz-Grotesk Bold Italics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C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779123" y="10229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6779123" y="11753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779123" y="13277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83318" y="2134840"/>
            <a:ext cx="9495182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sz="7599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Operating Hours</a:t>
            </a:r>
          </a:p>
          <a:p>
            <a:pPr algn="ctr">
              <a:lnSpc>
                <a:spcPts val="9119"/>
              </a:lnSpc>
            </a:pPr>
            <a:r>
              <a:rPr lang="en-US" sz="7599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06h00am - 21h00pm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156061"/>
            <a:ext cx="8004419" cy="4102239"/>
            <a:chOff x="0" y="0"/>
            <a:chExt cx="1240094" cy="6355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0094" cy="635544"/>
            </a:xfrm>
            <a:custGeom>
              <a:avLst/>
              <a:gdLst/>
              <a:ahLst/>
              <a:cxnLst/>
              <a:rect r="r" b="b" t="t" l="l"/>
              <a:pathLst>
                <a:path h="635544" w="1240094">
                  <a:moveTo>
                    <a:pt x="29016" y="0"/>
                  </a:moveTo>
                  <a:lnTo>
                    <a:pt x="1211078" y="0"/>
                  </a:lnTo>
                  <a:cubicBezTo>
                    <a:pt x="1218773" y="0"/>
                    <a:pt x="1226154" y="3057"/>
                    <a:pt x="1231595" y="8499"/>
                  </a:cubicBezTo>
                  <a:cubicBezTo>
                    <a:pt x="1237037" y="13940"/>
                    <a:pt x="1240094" y="21321"/>
                    <a:pt x="1240094" y="29016"/>
                  </a:cubicBezTo>
                  <a:lnTo>
                    <a:pt x="1240094" y="606528"/>
                  </a:lnTo>
                  <a:cubicBezTo>
                    <a:pt x="1240094" y="622553"/>
                    <a:pt x="1227103" y="635544"/>
                    <a:pt x="1211078" y="635544"/>
                  </a:cubicBezTo>
                  <a:lnTo>
                    <a:pt x="29016" y="635544"/>
                  </a:lnTo>
                  <a:cubicBezTo>
                    <a:pt x="12991" y="635544"/>
                    <a:pt x="0" y="622553"/>
                    <a:pt x="0" y="606528"/>
                  </a:cubicBezTo>
                  <a:lnTo>
                    <a:pt x="0" y="29016"/>
                  </a:lnTo>
                  <a:cubicBezTo>
                    <a:pt x="0" y="12991"/>
                    <a:pt x="12991" y="0"/>
                    <a:pt x="2901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122" r="0" b="-1512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54881" y="5156061"/>
            <a:ext cx="8004419" cy="4102239"/>
            <a:chOff x="0" y="0"/>
            <a:chExt cx="1240094" cy="6355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0094" cy="635544"/>
            </a:xfrm>
            <a:custGeom>
              <a:avLst/>
              <a:gdLst/>
              <a:ahLst/>
              <a:cxnLst/>
              <a:rect r="r" b="b" t="t" l="l"/>
              <a:pathLst>
                <a:path h="635544" w="1240094">
                  <a:moveTo>
                    <a:pt x="29016" y="0"/>
                  </a:moveTo>
                  <a:lnTo>
                    <a:pt x="1211078" y="0"/>
                  </a:lnTo>
                  <a:cubicBezTo>
                    <a:pt x="1218773" y="0"/>
                    <a:pt x="1226154" y="3057"/>
                    <a:pt x="1231595" y="8499"/>
                  </a:cubicBezTo>
                  <a:cubicBezTo>
                    <a:pt x="1237037" y="13940"/>
                    <a:pt x="1240094" y="21321"/>
                    <a:pt x="1240094" y="29016"/>
                  </a:cubicBezTo>
                  <a:lnTo>
                    <a:pt x="1240094" y="606528"/>
                  </a:lnTo>
                  <a:cubicBezTo>
                    <a:pt x="1240094" y="622553"/>
                    <a:pt x="1227103" y="635544"/>
                    <a:pt x="1211078" y="635544"/>
                  </a:cubicBezTo>
                  <a:lnTo>
                    <a:pt x="29016" y="635544"/>
                  </a:lnTo>
                  <a:cubicBezTo>
                    <a:pt x="12991" y="635544"/>
                    <a:pt x="0" y="622553"/>
                    <a:pt x="0" y="606528"/>
                  </a:cubicBezTo>
                  <a:lnTo>
                    <a:pt x="0" y="29016"/>
                  </a:lnTo>
                  <a:cubicBezTo>
                    <a:pt x="0" y="12991"/>
                    <a:pt x="12991" y="0"/>
                    <a:pt x="2901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8618" r="0" b="-8618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10853" y="9086046"/>
            <a:ext cx="1397477" cy="1595516"/>
          </a:xfrm>
          <a:custGeom>
            <a:avLst/>
            <a:gdLst/>
            <a:ahLst/>
            <a:cxnLst/>
            <a:rect r="r" b="b" t="t" l="l"/>
            <a:pathLst>
              <a:path h="1595516" w="1397477">
                <a:moveTo>
                  <a:pt x="0" y="0"/>
                </a:moveTo>
                <a:lnTo>
                  <a:pt x="1397477" y="0"/>
                </a:lnTo>
                <a:lnTo>
                  <a:pt x="1397477" y="1595515"/>
                </a:lnTo>
                <a:lnTo>
                  <a:pt x="0" y="1595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122854" y="398226"/>
            <a:ext cx="1021146" cy="1344293"/>
          </a:xfrm>
          <a:custGeom>
            <a:avLst/>
            <a:gdLst/>
            <a:ahLst/>
            <a:cxnLst/>
            <a:rect r="r" b="b" t="t" l="l"/>
            <a:pathLst>
              <a:path h="1344293" w="1021146">
                <a:moveTo>
                  <a:pt x="0" y="0"/>
                </a:moveTo>
                <a:lnTo>
                  <a:pt x="1021146" y="0"/>
                </a:lnTo>
                <a:lnTo>
                  <a:pt x="1021146" y="1344293"/>
                </a:lnTo>
                <a:lnTo>
                  <a:pt x="0" y="13442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574551" y="3741252"/>
            <a:ext cx="1369498" cy="1721126"/>
          </a:xfrm>
          <a:custGeom>
            <a:avLst/>
            <a:gdLst/>
            <a:ahLst/>
            <a:cxnLst/>
            <a:rect r="r" b="b" t="t" l="l"/>
            <a:pathLst>
              <a:path h="1721126" w="1369498">
                <a:moveTo>
                  <a:pt x="0" y="0"/>
                </a:moveTo>
                <a:lnTo>
                  <a:pt x="1369498" y="0"/>
                </a:lnTo>
                <a:lnTo>
                  <a:pt x="1369498" y="1721126"/>
                </a:lnTo>
                <a:lnTo>
                  <a:pt x="0" y="1721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86624" y="473767"/>
            <a:ext cx="2412042" cy="1526165"/>
          </a:xfrm>
          <a:custGeom>
            <a:avLst/>
            <a:gdLst/>
            <a:ahLst/>
            <a:cxnLst/>
            <a:rect r="r" b="b" t="t" l="l"/>
            <a:pathLst>
              <a:path h="1526165" w="2412042">
                <a:moveTo>
                  <a:pt x="0" y="0"/>
                </a:moveTo>
                <a:lnTo>
                  <a:pt x="2412042" y="0"/>
                </a:lnTo>
                <a:lnTo>
                  <a:pt x="2412042" y="1526165"/>
                </a:lnTo>
                <a:lnTo>
                  <a:pt x="0" y="15261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60512" y="775098"/>
            <a:ext cx="503115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3" b="true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Bright Coffee Shop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98121" y="378517"/>
            <a:ext cx="7481002" cy="4854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3716" indent="-486858" lvl="1">
              <a:lnSpc>
                <a:spcPts val="5412"/>
              </a:lnSpc>
              <a:buFont typeface="Arial"/>
              <a:buChar char="•"/>
            </a:pPr>
            <a:r>
              <a:rPr lang="en-US" b="true" sz="4510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we make most sales in the mornings between   06h00am - 11h59am</a:t>
            </a:r>
          </a:p>
          <a:p>
            <a:pPr algn="l" marL="973716" indent="-486858" lvl="1">
              <a:lnSpc>
                <a:spcPts val="5412"/>
              </a:lnSpc>
              <a:buFont typeface="Arial"/>
              <a:buChar char="•"/>
            </a:pPr>
            <a:r>
              <a:rPr lang="en-US" b="true" sz="4510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we make least sales in the Afternoon between 12h00pm - 17h59pm</a:t>
            </a:r>
          </a:p>
          <a:p>
            <a:pPr algn="l">
              <a:lnSpc>
                <a:spcPts val="541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69" t="0" r="-1166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779123" y="10229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779123" y="11753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779123" y="13277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177074" y="564703"/>
            <a:ext cx="1397477" cy="1595516"/>
          </a:xfrm>
          <a:custGeom>
            <a:avLst/>
            <a:gdLst/>
            <a:ahLst/>
            <a:cxnLst/>
            <a:rect r="r" b="b" t="t" l="l"/>
            <a:pathLst>
              <a:path h="1595516" w="1397477">
                <a:moveTo>
                  <a:pt x="0" y="0"/>
                </a:moveTo>
                <a:lnTo>
                  <a:pt x="1397477" y="0"/>
                </a:lnTo>
                <a:lnTo>
                  <a:pt x="1397477" y="1595515"/>
                </a:lnTo>
                <a:lnTo>
                  <a:pt x="0" y="1595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33427" y="6749229"/>
            <a:ext cx="1021146" cy="1344293"/>
          </a:xfrm>
          <a:custGeom>
            <a:avLst/>
            <a:gdLst/>
            <a:ahLst/>
            <a:cxnLst/>
            <a:rect r="r" b="b" t="t" l="l"/>
            <a:pathLst>
              <a:path h="1344293" w="1021146">
                <a:moveTo>
                  <a:pt x="0" y="0"/>
                </a:moveTo>
                <a:lnTo>
                  <a:pt x="1021146" y="0"/>
                </a:lnTo>
                <a:lnTo>
                  <a:pt x="1021146" y="1344293"/>
                </a:lnTo>
                <a:lnTo>
                  <a:pt x="0" y="13442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74551" y="8895999"/>
            <a:ext cx="1369498" cy="1721126"/>
          </a:xfrm>
          <a:custGeom>
            <a:avLst/>
            <a:gdLst/>
            <a:ahLst/>
            <a:cxnLst/>
            <a:rect r="r" b="b" t="t" l="l"/>
            <a:pathLst>
              <a:path h="1721126" w="1369498">
                <a:moveTo>
                  <a:pt x="0" y="0"/>
                </a:moveTo>
                <a:lnTo>
                  <a:pt x="1369498" y="0"/>
                </a:lnTo>
                <a:lnTo>
                  <a:pt x="1369498" y="1721126"/>
                </a:lnTo>
                <a:lnTo>
                  <a:pt x="0" y="1721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62245" y="9258300"/>
            <a:ext cx="2412042" cy="1526165"/>
          </a:xfrm>
          <a:custGeom>
            <a:avLst/>
            <a:gdLst/>
            <a:ahLst/>
            <a:cxnLst/>
            <a:rect r="r" b="b" t="t" l="l"/>
            <a:pathLst>
              <a:path h="1526165" w="2412042">
                <a:moveTo>
                  <a:pt x="0" y="0"/>
                </a:moveTo>
                <a:lnTo>
                  <a:pt x="2412042" y="0"/>
                </a:lnTo>
                <a:lnTo>
                  <a:pt x="2412042" y="1526165"/>
                </a:lnTo>
                <a:lnTo>
                  <a:pt x="0" y="15261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68266" y="9223162"/>
            <a:ext cx="873032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9"/>
              </a:lnSpc>
            </a:pPr>
            <a:r>
              <a:rPr lang="en-US" b="true" sz="5633">
                <a:solidFill>
                  <a:srgbClr val="13050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Bright Coffee Shop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68266" y="2055443"/>
            <a:ext cx="8730322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9"/>
              </a:lnSpc>
            </a:pPr>
            <a:r>
              <a:rPr lang="en-US" sz="5633" b="true">
                <a:solidFill>
                  <a:srgbClr val="13050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Jan - june</a:t>
            </a:r>
          </a:p>
          <a:p>
            <a:pPr algn="ctr">
              <a:lnSpc>
                <a:spcPts val="6759"/>
              </a:lnSpc>
            </a:pPr>
            <a:r>
              <a:rPr lang="en-US" sz="5633" b="true">
                <a:solidFill>
                  <a:srgbClr val="13050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698812,33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3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779123" y="10229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6779123" y="11753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779123" y="13277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654573" y="5143500"/>
            <a:ext cx="8004419" cy="4102239"/>
            <a:chOff x="0" y="0"/>
            <a:chExt cx="1240094" cy="6355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0094" cy="635544"/>
            </a:xfrm>
            <a:custGeom>
              <a:avLst/>
              <a:gdLst/>
              <a:ahLst/>
              <a:cxnLst/>
              <a:rect r="r" b="b" t="t" l="l"/>
              <a:pathLst>
                <a:path h="635544" w="1240094">
                  <a:moveTo>
                    <a:pt x="29016" y="0"/>
                  </a:moveTo>
                  <a:lnTo>
                    <a:pt x="1211078" y="0"/>
                  </a:lnTo>
                  <a:cubicBezTo>
                    <a:pt x="1218773" y="0"/>
                    <a:pt x="1226154" y="3057"/>
                    <a:pt x="1231595" y="8499"/>
                  </a:cubicBezTo>
                  <a:cubicBezTo>
                    <a:pt x="1237037" y="13940"/>
                    <a:pt x="1240094" y="21321"/>
                    <a:pt x="1240094" y="29016"/>
                  </a:cubicBezTo>
                  <a:lnTo>
                    <a:pt x="1240094" y="606528"/>
                  </a:lnTo>
                  <a:cubicBezTo>
                    <a:pt x="1240094" y="622553"/>
                    <a:pt x="1227103" y="635544"/>
                    <a:pt x="1211078" y="635544"/>
                  </a:cubicBezTo>
                  <a:lnTo>
                    <a:pt x="29016" y="635544"/>
                  </a:lnTo>
                  <a:cubicBezTo>
                    <a:pt x="12991" y="635544"/>
                    <a:pt x="0" y="622553"/>
                    <a:pt x="0" y="606528"/>
                  </a:cubicBezTo>
                  <a:lnTo>
                    <a:pt x="0" y="29016"/>
                  </a:lnTo>
                  <a:cubicBezTo>
                    <a:pt x="0" y="12991"/>
                    <a:pt x="12991" y="0"/>
                    <a:pt x="29016" y="0"/>
                  </a:cubicBezTo>
                  <a:close/>
                </a:path>
              </a:pathLst>
            </a:custGeom>
            <a:blipFill>
              <a:blip r:embed="rId2"/>
              <a:stretch>
                <a:fillRect l="-1912" t="0" r="-191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54573" y="517623"/>
            <a:ext cx="8004419" cy="4102239"/>
            <a:chOff x="0" y="0"/>
            <a:chExt cx="1240094" cy="6355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0094" cy="635544"/>
            </a:xfrm>
            <a:custGeom>
              <a:avLst/>
              <a:gdLst/>
              <a:ahLst/>
              <a:cxnLst/>
              <a:rect r="r" b="b" t="t" l="l"/>
              <a:pathLst>
                <a:path h="635544" w="1240094">
                  <a:moveTo>
                    <a:pt x="29016" y="0"/>
                  </a:moveTo>
                  <a:lnTo>
                    <a:pt x="1211078" y="0"/>
                  </a:lnTo>
                  <a:cubicBezTo>
                    <a:pt x="1218773" y="0"/>
                    <a:pt x="1226154" y="3057"/>
                    <a:pt x="1231595" y="8499"/>
                  </a:cubicBezTo>
                  <a:cubicBezTo>
                    <a:pt x="1237037" y="13940"/>
                    <a:pt x="1240094" y="21321"/>
                    <a:pt x="1240094" y="29016"/>
                  </a:cubicBezTo>
                  <a:lnTo>
                    <a:pt x="1240094" y="606528"/>
                  </a:lnTo>
                  <a:cubicBezTo>
                    <a:pt x="1240094" y="622553"/>
                    <a:pt x="1227103" y="635544"/>
                    <a:pt x="1211078" y="635544"/>
                  </a:cubicBezTo>
                  <a:lnTo>
                    <a:pt x="29016" y="635544"/>
                  </a:lnTo>
                  <a:cubicBezTo>
                    <a:pt x="12991" y="635544"/>
                    <a:pt x="0" y="622553"/>
                    <a:pt x="0" y="606528"/>
                  </a:cubicBezTo>
                  <a:lnTo>
                    <a:pt x="0" y="29016"/>
                  </a:lnTo>
                  <a:cubicBezTo>
                    <a:pt x="0" y="12991"/>
                    <a:pt x="12991" y="0"/>
                    <a:pt x="2901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763" r="0" b="-5763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29961" y="2827337"/>
            <a:ext cx="1397477" cy="1595516"/>
          </a:xfrm>
          <a:custGeom>
            <a:avLst/>
            <a:gdLst/>
            <a:ahLst/>
            <a:cxnLst/>
            <a:rect r="r" b="b" t="t" l="l"/>
            <a:pathLst>
              <a:path h="1595516" w="1397477">
                <a:moveTo>
                  <a:pt x="0" y="0"/>
                </a:moveTo>
                <a:lnTo>
                  <a:pt x="1397478" y="0"/>
                </a:lnTo>
                <a:lnTo>
                  <a:pt x="1397478" y="1595515"/>
                </a:lnTo>
                <a:lnTo>
                  <a:pt x="0" y="1595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33427" y="8985319"/>
            <a:ext cx="1021146" cy="1344293"/>
          </a:xfrm>
          <a:custGeom>
            <a:avLst/>
            <a:gdLst/>
            <a:ahLst/>
            <a:cxnLst/>
            <a:rect r="r" b="b" t="t" l="l"/>
            <a:pathLst>
              <a:path h="1344293" w="1021146">
                <a:moveTo>
                  <a:pt x="0" y="0"/>
                </a:moveTo>
                <a:lnTo>
                  <a:pt x="1021146" y="0"/>
                </a:lnTo>
                <a:lnTo>
                  <a:pt x="1021146" y="1344293"/>
                </a:lnTo>
                <a:lnTo>
                  <a:pt x="0" y="13442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98459" y="3759299"/>
            <a:ext cx="1369498" cy="1721126"/>
          </a:xfrm>
          <a:custGeom>
            <a:avLst/>
            <a:gdLst/>
            <a:ahLst/>
            <a:cxnLst/>
            <a:rect r="r" b="b" t="t" l="l"/>
            <a:pathLst>
              <a:path h="1721126" w="1369498">
                <a:moveTo>
                  <a:pt x="0" y="0"/>
                </a:moveTo>
                <a:lnTo>
                  <a:pt x="1369498" y="0"/>
                </a:lnTo>
                <a:lnTo>
                  <a:pt x="1369498" y="1721125"/>
                </a:lnTo>
                <a:lnTo>
                  <a:pt x="0" y="1721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2755" y="1175385"/>
            <a:ext cx="9351818" cy="8229600"/>
          </a:xfrm>
          <a:custGeom>
            <a:avLst/>
            <a:gdLst/>
            <a:ahLst/>
            <a:cxnLst/>
            <a:rect r="r" b="b" t="t" l="l"/>
            <a:pathLst>
              <a:path h="8229600" w="9351818">
                <a:moveTo>
                  <a:pt x="0" y="0"/>
                </a:moveTo>
                <a:lnTo>
                  <a:pt x="9351818" y="0"/>
                </a:lnTo>
                <a:lnTo>
                  <a:pt x="93518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0"/>
            <a:ext cx="2412042" cy="1526165"/>
          </a:xfrm>
          <a:custGeom>
            <a:avLst/>
            <a:gdLst/>
            <a:ahLst/>
            <a:cxnLst/>
            <a:rect r="r" b="b" t="t" l="l"/>
            <a:pathLst>
              <a:path h="1526165" w="2412042">
                <a:moveTo>
                  <a:pt x="0" y="0"/>
                </a:moveTo>
                <a:lnTo>
                  <a:pt x="2412042" y="0"/>
                </a:lnTo>
                <a:lnTo>
                  <a:pt x="2412042" y="1526165"/>
                </a:lnTo>
                <a:lnTo>
                  <a:pt x="0" y="152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78964" y="2233249"/>
            <a:ext cx="4999400" cy="267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2"/>
              </a:lnSpc>
            </a:pPr>
            <a:r>
              <a:rPr lang="en-US" b="true" sz="5635">
                <a:solidFill>
                  <a:srgbClr val="000000">
                    <a:alpha val="24706"/>
                  </a:srgbClr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Our Best Selling Product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29440" y="450948"/>
            <a:ext cx="503115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3" b="true">
                <a:solidFill>
                  <a:srgbClr val="E3CBB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Bright Coffee Shop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C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779123" y="10229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6779123" y="11753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779123" y="13277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2009870"/>
            <a:ext cx="9702729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b="true" sz="7599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New Products Added in our Menu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143500"/>
            <a:ext cx="4720581" cy="4102239"/>
            <a:chOff x="0" y="0"/>
            <a:chExt cx="731342" cy="6355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342" cy="635544"/>
            </a:xfrm>
            <a:custGeom>
              <a:avLst/>
              <a:gdLst/>
              <a:ahLst/>
              <a:cxnLst/>
              <a:rect r="r" b="b" t="t" l="l"/>
              <a:pathLst>
                <a:path h="635544" w="731342">
                  <a:moveTo>
                    <a:pt x="49201" y="0"/>
                  </a:moveTo>
                  <a:lnTo>
                    <a:pt x="682140" y="0"/>
                  </a:lnTo>
                  <a:cubicBezTo>
                    <a:pt x="709313" y="0"/>
                    <a:pt x="731342" y="22028"/>
                    <a:pt x="731342" y="49201"/>
                  </a:cubicBezTo>
                  <a:lnTo>
                    <a:pt x="731342" y="586343"/>
                  </a:lnTo>
                  <a:cubicBezTo>
                    <a:pt x="731342" y="599392"/>
                    <a:pt x="726158" y="611906"/>
                    <a:pt x="716931" y="621134"/>
                  </a:cubicBezTo>
                  <a:cubicBezTo>
                    <a:pt x="707704" y="630361"/>
                    <a:pt x="695189" y="635544"/>
                    <a:pt x="682140" y="635544"/>
                  </a:cubicBezTo>
                  <a:lnTo>
                    <a:pt x="49201" y="635544"/>
                  </a:lnTo>
                  <a:cubicBezTo>
                    <a:pt x="36152" y="635544"/>
                    <a:pt x="23638" y="630361"/>
                    <a:pt x="14411" y="621134"/>
                  </a:cubicBezTo>
                  <a:cubicBezTo>
                    <a:pt x="5184" y="611906"/>
                    <a:pt x="0" y="599392"/>
                    <a:pt x="0" y="586343"/>
                  </a:cubicBezTo>
                  <a:lnTo>
                    <a:pt x="0" y="49201"/>
                  </a:lnTo>
                  <a:cubicBezTo>
                    <a:pt x="0" y="36152"/>
                    <a:pt x="5184" y="23638"/>
                    <a:pt x="14411" y="14411"/>
                  </a:cubicBezTo>
                  <a:cubicBezTo>
                    <a:pt x="23638" y="5184"/>
                    <a:pt x="36152" y="0"/>
                    <a:pt x="49201" y="0"/>
                  </a:cubicBezTo>
                  <a:close/>
                </a:path>
              </a:pathLst>
            </a:custGeom>
            <a:blipFill>
              <a:blip r:embed="rId2"/>
              <a:stretch>
                <a:fillRect l="-15216" t="0" r="-1521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10847" y="5143500"/>
            <a:ext cx="4720581" cy="4102239"/>
            <a:chOff x="0" y="0"/>
            <a:chExt cx="731342" cy="6355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342" cy="635544"/>
            </a:xfrm>
            <a:custGeom>
              <a:avLst/>
              <a:gdLst/>
              <a:ahLst/>
              <a:cxnLst/>
              <a:rect r="r" b="b" t="t" l="l"/>
              <a:pathLst>
                <a:path h="635544" w="731342">
                  <a:moveTo>
                    <a:pt x="49201" y="0"/>
                  </a:moveTo>
                  <a:lnTo>
                    <a:pt x="682140" y="0"/>
                  </a:lnTo>
                  <a:cubicBezTo>
                    <a:pt x="709313" y="0"/>
                    <a:pt x="731342" y="22028"/>
                    <a:pt x="731342" y="49201"/>
                  </a:cubicBezTo>
                  <a:lnTo>
                    <a:pt x="731342" y="586343"/>
                  </a:lnTo>
                  <a:cubicBezTo>
                    <a:pt x="731342" y="599392"/>
                    <a:pt x="726158" y="611906"/>
                    <a:pt x="716931" y="621134"/>
                  </a:cubicBezTo>
                  <a:cubicBezTo>
                    <a:pt x="707704" y="630361"/>
                    <a:pt x="695189" y="635544"/>
                    <a:pt x="682140" y="635544"/>
                  </a:cubicBezTo>
                  <a:lnTo>
                    <a:pt x="49201" y="635544"/>
                  </a:lnTo>
                  <a:cubicBezTo>
                    <a:pt x="36152" y="635544"/>
                    <a:pt x="23638" y="630361"/>
                    <a:pt x="14411" y="621134"/>
                  </a:cubicBezTo>
                  <a:cubicBezTo>
                    <a:pt x="5184" y="611906"/>
                    <a:pt x="0" y="599392"/>
                    <a:pt x="0" y="586343"/>
                  </a:cubicBezTo>
                  <a:lnTo>
                    <a:pt x="0" y="49201"/>
                  </a:lnTo>
                  <a:cubicBezTo>
                    <a:pt x="0" y="36152"/>
                    <a:pt x="5184" y="23638"/>
                    <a:pt x="14411" y="14411"/>
                  </a:cubicBezTo>
                  <a:cubicBezTo>
                    <a:pt x="23638" y="5184"/>
                    <a:pt x="36152" y="0"/>
                    <a:pt x="4920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6715" r="0" b="-26715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29961" y="8447981"/>
            <a:ext cx="1397477" cy="1595516"/>
          </a:xfrm>
          <a:custGeom>
            <a:avLst/>
            <a:gdLst/>
            <a:ahLst/>
            <a:cxnLst/>
            <a:rect r="r" b="b" t="t" l="l"/>
            <a:pathLst>
              <a:path h="1595516" w="1397477">
                <a:moveTo>
                  <a:pt x="0" y="0"/>
                </a:moveTo>
                <a:lnTo>
                  <a:pt x="1397478" y="0"/>
                </a:lnTo>
                <a:lnTo>
                  <a:pt x="1397478" y="1595516"/>
                </a:lnTo>
                <a:lnTo>
                  <a:pt x="0" y="1595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40989">
            <a:off x="8881029" y="652458"/>
            <a:ext cx="2185276" cy="2876819"/>
          </a:xfrm>
          <a:custGeom>
            <a:avLst/>
            <a:gdLst/>
            <a:ahLst/>
            <a:cxnLst/>
            <a:rect r="r" b="b" t="t" l="l"/>
            <a:pathLst>
              <a:path h="2876819" w="2185276">
                <a:moveTo>
                  <a:pt x="0" y="0"/>
                </a:moveTo>
                <a:lnTo>
                  <a:pt x="2185276" y="0"/>
                </a:lnTo>
                <a:lnTo>
                  <a:pt x="2185276" y="2876819"/>
                </a:lnTo>
                <a:lnTo>
                  <a:pt x="0" y="2876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259300" y="7684315"/>
            <a:ext cx="1369498" cy="1721126"/>
          </a:xfrm>
          <a:custGeom>
            <a:avLst/>
            <a:gdLst/>
            <a:ahLst/>
            <a:cxnLst/>
            <a:rect r="r" b="b" t="t" l="l"/>
            <a:pathLst>
              <a:path h="1721126" w="1369498">
                <a:moveTo>
                  <a:pt x="0" y="0"/>
                </a:moveTo>
                <a:lnTo>
                  <a:pt x="1369498" y="0"/>
                </a:lnTo>
                <a:lnTo>
                  <a:pt x="1369498" y="1721125"/>
                </a:lnTo>
                <a:lnTo>
                  <a:pt x="0" y="1721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56169" y="564703"/>
            <a:ext cx="2412042" cy="1526165"/>
          </a:xfrm>
          <a:custGeom>
            <a:avLst/>
            <a:gdLst/>
            <a:ahLst/>
            <a:cxnLst/>
            <a:rect r="r" b="b" t="t" l="l"/>
            <a:pathLst>
              <a:path h="1526165" w="2412042">
                <a:moveTo>
                  <a:pt x="0" y="0"/>
                </a:moveTo>
                <a:lnTo>
                  <a:pt x="2412042" y="0"/>
                </a:lnTo>
                <a:lnTo>
                  <a:pt x="2412042" y="1526164"/>
                </a:lnTo>
                <a:lnTo>
                  <a:pt x="0" y="15261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861349" y="359357"/>
            <a:ext cx="6082700" cy="8597456"/>
          </a:xfrm>
          <a:custGeom>
            <a:avLst/>
            <a:gdLst/>
            <a:ahLst/>
            <a:cxnLst/>
            <a:rect r="r" b="b" t="t" l="l"/>
            <a:pathLst>
              <a:path h="8597456" w="6082700">
                <a:moveTo>
                  <a:pt x="0" y="0"/>
                </a:moveTo>
                <a:lnTo>
                  <a:pt x="6082700" y="0"/>
                </a:lnTo>
                <a:lnTo>
                  <a:pt x="6082700" y="8597456"/>
                </a:lnTo>
                <a:lnTo>
                  <a:pt x="0" y="85974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945895" y="9185413"/>
            <a:ext cx="591360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Dev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elop menu including espresso-based drinks, alternative milk options, seasonal specialties, and light snacks to satisfy customer preferences.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92841" y="927735"/>
            <a:ext cx="503115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3" b="true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Bright Coffee Shop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C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779123" y="10229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6779123" y="11753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779123" y="13277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2009870"/>
            <a:ext cx="7500230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sz="7599" b="true">
                <a:solidFill>
                  <a:srgbClr val="BBA082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Marketing Strategies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809451"/>
            <a:ext cx="7500230" cy="3218988"/>
            <a:chOff x="0" y="0"/>
            <a:chExt cx="1161982" cy="4987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1982" cy="498705"/>
            </a:xfrm>
            <a:custGeom>
              <a:avLst/>
              <a:gdLst/>
              <a:ahLst/>
              <a:cxnLst/>
              <a:rect r="r" b="b" t="t" l="l"/>
              <a:pathLst>
                <a:path h="498705" w="1161982">
                  <a:moveTo>
                    <a:pt x="30967" y="0"/>
                  </a:moveTo>
                  <a:lnTo>
                    <a:pt x="1131015" y="0"/>
                  </a:lnTo>
                  <a:cubicBezTo>
                    <a:pt x="1139228" y="0"/>
                    <a:pt x="1147105" y="3263"/>
                    <a:pt x="1152912" y="9070"/>
                  </a:cubicBezTo>
                  <a:cubicBezTo>
                    <a:pt x="1158719" y="14877"/>
                    <a:pt x="1161982" y="22754"/>
                    <a:pt x="1161982" y="30967"/>
                  </a:cubicBezTo>
                  <a:lnTo>
                    <a:pt x="1161982" y="467739"/>
                  </a:lnTo>
                  <a:cubicBezTo>
                    <a:pt x="1161982" y="475952"/>
                    <a:pt x="1158719" y="483828"/>
                    <a:pt x="1152912" y="489635"/>
                  </a:cubicBezTo>
                  <a:cubicBezTo>
                    <a:pt x="1147105" y="495443"/>
                    <a:pt x="1139228" y="498705"/>
                    <a:pt x="1131015" y="498705"/>
                  </a:cubicBezTo>
                  <a:lnTo>
                    <a:pt x="30967" y="498705"/>
                  </a:lnTo>
                  <a:cubicBezTo>
                    <a:pt x="22754" y="498705"/>
                    <a:pt x="14877" y="495443"/>
                    <a:pt x="9070" y="489635"/>
                  </a:cubicBezTo>
                  <a:cubicBezTo>
                    <a:pt x="3263" y="483828"/>
                    <a:pt x="0" y="475952"/>
                    <a:pt x="0" y="467739"/>
                  </a:cubicBezTo>
                  <a:lnTo>
                    <a:pt x="0" y="30967"/>
                  </a:lnTo>
                  <a:cubicBezTo>
                    <a:pt x="0" y="22754"/>
                    <a:pt x="3263" y="14877"/>
                    <a:pt x="9070" y="9070"/>
                  </a:cubicBezTo>
                  <a:cubicBezTo>
                    <a:pt x="14877" y="3263"/>
                    <a:pt x="22754" y="0"/>
                    <a:pt x="3096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3199" r="0" b="-4319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580745" y="7885165"/>
            <a:ext cx="66785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Community Eve</a:t>
            </a:r>
            <a:r>
              <a:rPr lang="en-US" b="true" sz="2100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nts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29961" y="6111453"/>
            <a:ext cx="1397477" cy="1595516"/>
          </a:xfrm>
          <a:custGeom>
            <a:avLst/>
            <a:gdLst/>
            <a:ahLst/>
            <a:cxnLst/>
            <a:rect r="r" b="b" t="t" l="l"/>
            <a:pathLst>
              <a:path h="1595516" w="1397477">
                <a:moveTo>
                  <a:pt x="0" y="0"/>
                </a:moveTo>
                <a:lnTo>
                  <a:pt x="1397478" y="0"/>
                </a:lnTo>
                <a:lnTo>
                  <a:pt x="1397478" y="1595515"/>
                </a:lnTo>
                <a:lnTo>
                  <a:pt x="0" y="1595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73952" y="3029627"/>
            <a:ext cx="1021146" cy="1344293"/>
          </a:xfrm>
          <a:custGeom>
            <a:avLst/>
            <a:gdLst/>
            <a:ahLst/>
            <a:cxnLst/>
            <a:rect r="r" b="b" t="t" l="l"/>
            <a:pathLst>
              <a:path h="1344293" w="1021146">
                <a:moveTo>
                  <a:pt x="0" y="0"/>
                </a:moveTo>
                <a:lnTo>
                  <a:pt x="1021146" y="0"/>
                </a:lnTo>
                <a:lnTo>
                  <a:pt x="1021146" y="1344293"/>
                </a:lnTo>
                <a:lnTo>
                  <a:pt x="0" y="13442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59300" y="7684315"/>
            <a:ext cx="1369498" cy="1721126"/>
          </a:xfrm>
          <a:custGeom>
            <a:avLst/>
            <a:gdLst/>
            <a:ahLst/>
            <a:cxnLst/>
            <a:rect r="r" b="b" t="t" l="l"/>
            <a:pathLst>
              <a:path h="1721126" w="1369498">
                <a:moveTo>
                  <a:pt x="0" y="0"/>
                </a:moveTo>
                <a:lnTo>
                  <a:pt x="1369498" y="0"/>
                </a:lnTo>
                <a:lnTo>
                  <a:pt x="1369498" y="1721125"/>
                </a:lnTo>
                <a:lnTo>
                  <a:pt x="0" y="1721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289492"/>
            <a:ext cx="2412042" cy="1526165"/>
          </a:xfrm>
          <a:custGeom>
            <a:avLst/>
            <a:gdLst/>
            <a:ahLst/>
            <a:cxnLst/>
            <a:rect r="r" b="b" t="t" l="l"/>
            <a:pathLst>
              <a:path h="1526165" w="2412042">
                <a:moveTo>
                  <a:pt x="0" y="0"/>
                </a:moveTo>
                <a:lnTo>
                  <a:pt x="2412042" y="0"/>
                </a:lnTo>
                <a:lnTo>
                  <a:pt x="2412042" y="1526165"/>
                </a:lnTo>
                <a:lnTo>
                  <a:pt x="0" y="15261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02988" y="334988"/>
            <a:ext cx="4634070" cy="2720860"/>
          </a:xfrm>
          <a:custGeom>
            <a:avLst/>
            <a:gdLst/>
            <a:ahLst/>
            <a:cxnLst/>
            <a:rect r="r" b="b" t="t" l="l"/>
            <a:pathLst>
              <a:path h="2720860" w="4634070">
                <a:moveTo>
                  <a:pt x="0" y="0"/>
                </a:moveTo>
                <a:lnTo>
                  <a:pt x="4634070" y="0"/>
                </a:lnTo>
                <a:lnTo>
                  <a:pt x="4634070" y="2720859"/>
                </a:lnTo>
                <a:lnTo>
                  <a:pt x="0" y="27208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364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8322945"/>
            <a:ext cx="750023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Implem</a:t>
            </a: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 local promotions, social media presence, referral programs, and community partnerships to attract new customers and effectively retain loyal patrons.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80745" y="6396263"/>
            <a:ext cx="667855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Offer</a:t>
            </a: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 discounts or free items for referrals incentivizes existing customers to spread word-of-mouth marketing through social media networks.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80745" y="5958483"/>
            <a:ext cx="66785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Referral P</a:t>
            </a:r>
            <a:r>
              <a:rPr lang="en-US" b="true" sz="2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rograms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8120" y="6371366"/>
            <a:ext cx="65086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80745" y="4469582"/>
            <a:ext cx="667855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</a:t>
            </a: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intaining active profiles with engaging content, promotions, and customer interactions naturally builds strong community and loyalty.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08120" y="4444684"/>
            <a:ext cx="65086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80745" y="2972252"/>
            <a:ext cx="667855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Dist</a:t>
            </a: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ributing flyers, signage, local press features effectively increases awareness among nearby residents and potential customers.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80745" y="2527527"/>
            <a:ext cx="66785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Local Adve</a:t>
            </a:r>
            <a:r>
              <a:rPr lang="en-US" b="true" sz="2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rtising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8120" y="2518002"/>
            <a:ext cx="65086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80745" y="8322945"/>
            <a:ext cx="667855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Host</a:t>
            </a: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 workshops, tastings, charity events consistently fosters vibrant community engagement and increases coffee shop overall visibility.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8120" y="8298047"/>
            <a:ext cx="65086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93654" y="622464"/>
            <a:ext cx="503115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3" b="true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Bright Coffee Shop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C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779123" y="10229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6779123" y="11753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779123" y="13277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107050" y="2152745"/>
            <a:ext cx="4458451" cy="7105555"/>
            <a:chOff x="0" y="0"/>
            <a:chExt cx="690731" cy="11008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0731" cy="1100836"/>
            </a:xfrm>
            <a:custGeom>
              <a:avLst/>
              <a:gdLst/>
              <a:ahLst/>
              <a:cxnLst/>
              <a:rect r="r" b="b" t="t" l="l"/>
              <a:pathLst>
                <a:path h="1100836" w="690731">
                  <a:moveTo>
                    <a:pt x="52094" y="0"/>
                  </a:moveTo>
                  <a:lnTo>
                    <a:pt x="638637" y="0"/>
                  </a:lnTo>
                  <a:cubicBezTo>
                    <a:pt x="667408" y="0"/>
                    <a:pt x="690731" y="23323"/>
                    <a:pt x="690731" y="52094"/>
                  </a:cubicBezTo>
                  <a:lnTo>
                    <a:pt x="690731" y="1048743"/>
                  </a:lnTo>
                  <a:cubicBezTo>
                    <a:pt x="690731" y="1077513"/>
                    <a:pt x="667408" y="1100836"/>
                    <a:pt x="638637" y="1100836"/>
                  </a:cubicBezTo>
                  <a:lnTo>
                    <a:pt x="52094" y="1100836"/>
                  </a:lnTo>
                  <a:cubicBezTo>
                    <a:pt x="23323" y="1100836"/>
                    <a:pt x="0" y="1077513"/>
                    <a:pt x="0" y="1048743"/>
                  </a:cubicBezTo>
                  <a:lnTo>
                    <a:pt x="0" y="52094"/>
                  </a:lnTo>
                  <a:cubicBezTo>
                    <a:pt x="0" y="23323"/>
                    <a:pt x="23323" y="0"/>
                    <a:pt x="52094" y="0"/>
                  </a:cubicBezTo>
                  <a:close/>
                </a:path>
              </a:pathLst>
            </a:custGeom>
            <a:blipFill>
              <a:blip r:embed="rId2"/>
              <a:stretch>
                <a:fillRect l="-69529" t="0" r="-6952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0849" y="2152745"/>
            <a:ext cx="4458451" cy="7105555"/>
            <a:chOff x="0" y="0"/>
            <a:chExt cx="690731" cy="11008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0731" cy="1100836"/>
            </a:xfrm>
            <a:custGeom>
              <a:avLst/>
              <a:gdLst/>
              <a:ahLst/>
              <a:cxnLst/>
              <a:rect r="r" b="b" t="t" l="l"/>
              <a:pathLst>
                <a:path h="1100836" w="690731">
                  <a:moveTo>
                    <a:pt x="52094" y="0"/>
                  </a:moveTo>
                  <a:lnTo>
                    <a:pt x="638637" y="0"/>
                  </a:lnTo>
                  <a:cubicBezTo>
                    <a:pt x="667408" y="0"/>
                    <a:pt x="690731" y="23323"/>
                    <a:pt x="690731" y="52094"/>
                  </a:cubicBezTo>
                  <a:lnTo>
                    <a:pt x="690731" y="1048743"/>
                  </a:lnTo>
                  <a:cubicBezTo>
                    <a:pt x="690731" y="1077513"/>
                    <a:pt x="667408" y="1100836"/>
                    <a:pt x="638637" y="1100836"/>
                  </a:cubicBezTo>
                  <a:lnTo>
                    <a:pt x="52094" y="1100836"/>
                  </a:lnTo>
                  <a:cubicBezTo>
                    <a:pt x="23323" y="1100836"/>
                    <a:pt x="0" y="1077513"/>
                    <a:pt x="0" y="1048743"/>
                  </a:cubicBezTo>
                  <a:lnTo>
                    <a:pt x="0" y="52094"/>
                  </a:lnTo>
                  <a:cubicBezTo>
                    <a:pt x="0" y="23323"/>
                    <a:pt x="23323" y="0"/>
                    <a:pt x="52094" y="0"/>
                  </a:cubicBezTo>
                  <a:close/>
                </a:path>
              </a:pathLst>
            </a:custGeom>
            <a:blipFill>
              <a:blip r:embed="rId3"/>
              <a:stretch>
                <a:fillRect l="-69529" t="0" r="-69529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400964" y="2010098"/>
            <a:ext cx="1397477" cy="1595516"/>
          </a:xfrm>
          <a:custGeom>
            <a:avLst/>
            <a:gdLst/>
            <a:ahLst/>
            <a:cxnLst/>
            <a:rect r="r" b="b" t="t" l="l"/>
            <a:pathLst>
              <a:path h="1595516" w="1397477">
                <a:moveTo>
                  <a:pt x="0" y="0"/>
                </a:moveTo>
                <a:lnTo>
                  <a:pt x="1397477" y="0"/>
                </a:lnTo>
                <a:lnTo>
                  <a:pt x="1397477" y="1595516"/>
                </a:lnTo>
                <a:lnTo>
                  <a:pt x="0" y="1595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26192" y="7537174"/>
            <a:ext cx="1369498" cy="1721126"/>
          </a:xfrm>
          <a:custGeom>
            <a:avLst/>
            <a:gdLst/>
            <a:ahLst/>
            <a:cxnLst/>
            <a:rect r="r" b="b" t="t" l="l"/>
            <a:pathLst>
              <a:path h="1721126" w="1369498">
                <a:moveTo>
                  <a:pt x="0" y="0"/>
                </a:moveTo>
                <a:lnTo>
                  <a:pt x="1369497" y="0"/>
                </a:lnTo>
                <a:lnTo>
                  <a:pt x="1369497" y="1721126"/>
                </a:lnTo>
                <a:lnTo>
                  <a:pt x="0" y="1721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16517" y="365853"/>
            <a:ext cx="1029226" cy="1478283"/>
          </a:xfrm>
          <a:custGeom>
            <a:avLst/>
            <a:gdLst/>
            <a:ahLst/>
            <a:cxnLst/>
            <a:rect r="r" b="b" t="t" l="l"/>
            <a:pathLst>
              <a:path h="1478283" w="1029226">
                <a:moveTo>
                  <a:pt x="0" y="0"/>
                </a:moveTo>
                <a:lnTo>
                  <a:pt x="1029226" y="0"/>
                </a:lnTo>
                <a:lnTo>
                  <a:pt x="1029226" y="1478283"/>
                </a:lnTo>
                <a:lnTo>
                  <a:pt x="0" y="1478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21003" y="474046"/>
            <a:ext cx="2412042" cy="1526165"/>
          </a:xfrm>
          <a:custGeom>
            <a:avLst/>
            <a:gdLst/>
            <a:ahLst/>
            <a:cxnLst/>
            <a:rect r="r" b="b" t="t" l="l"/>
            <a:pathLst>
              <a:path h="1526165" w="2412042">
                <a:moveTo>
                  <a:pt x="0" y="0"/>
                </a:moveTo>
                <a:lnTo>
                  <a:pt x="2412042" y="0"/>
                </a:lnTo>
                <a:lnTo>
                  <a:pt x="2412042" y="1526165"/>
                </a:lnTo>
                <a:lnTo>
                  <a:pt x="0" y="15261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2958" y="2011355"/>
            <a:ext cx="7804092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sz="7599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TRAINING &amp; Development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3458" y="6584890"/>
            <a:ext cx="628546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ensure that we keep our excellent service level in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all our branches by training and equipping our employees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83458" y="4887905"/>
            <a:ext cx="4940982" cy="1325510"/>
            <a:chOff x="0" y="0"/>
            <a:chExt cx="6587976" cy="176734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532907"/>
              <a:ext cx="6587976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Creat</a:t>
              </a:r>
              <a:r>
                <a:rPr lang="en-US" sz="18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ing balanced staff schedules ensures coverage during peak hours and reduces employee burnout risks.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658797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Scheduli</a:t>
              </a:r>
              <a:r>
                <a:rPr lang="en-US" b="true" sz="21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ng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075896" y="809720"/>
            <a:ext cx="503115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3" b="true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Bright Coffee Shop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779123" y="10229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6779123" y="11753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779123" y="1327785"/>
            <a:ext cx="480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2152745"/>
            <a:ext cx="4376054" cy="7105555"/>
            <a:chOff x="0" y="0"/>
            <a:chExt cx="677965" cy="11008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965" cy="1100836"/>
            </a:xfrm>
            <a:custGeom>
              <a:avLst/>
              <a:gdLst/>
              <a:ahLst/>
              <a:cxnLst/>
              <a:rect r="r" b="b" t="t" l="l"/>
              <a:pathLst>
                <a:path h="1100836" w="677965">
                  <a:moveTo>
                    <a:pt x="53075" y="0"/>
                  </a:moveTo>
                  <a:lnTo>
                    <a:pt x="624891" y="0"/>
                  </a:lnTo>
                  <a:cubicBezTo>
                    <a:pt x="654203" y="0"/>
                    <a:pt x="677965" y="23762"/>
                    <a:pt x="677965" y="53075"/>
                  </a:cubicBezTo>
                  <a:lnTo>
                    <a:pt x="677965" y="1047762"/>
                  </a:lnTo>
                  <a:cubicBezTo>
                    <a:pt x="677965" y="1077074"/>
                    <a:pt x="654203" y="1100836"/>
                    <a:pt x="624891" y="1100836"/>
                  </a:cubicBezTo>
                  <a:lnTo>
                    <a:pt x="53075" y="1100836"/>
                  </a:lnTo>
                  <a:cubicBezTo>
                    <a:pt x="23762" y="1100836"/>
                    <a:pt x="0" y="1077074"/>
                    <a:pt x="0" y="1047762"/>
                  </a:cubicBezTo>
                  <a:lnTo>
                    <a:pt x="0" y="53075"/>
                  </a:lnTo>
                  <a:cubicBezTo>
                    <a:pt x="0" y="23762"/>
                    <a:pt x="23762" y="0"/>
                    <a:pt x="53075" y="0"/>
                  </a:cubicBezTo>
                  <a:close/>
                </a:path>
              </a:pathLst>
            </a:custGeom>
            <a:blipFill>
              <a:blip r:embed="rId2"/>
              <a:stretch>
                <a:fillRect l="-4090" t="0" r="-409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635752" y="2152745"/>
            <a:ext cx="4376054" cy="7105555"/>
            <a:chOff x="0" y="0"/>
            <a:chExt cx="677965" cy="11008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7965" cy="1100836"/>
            </a:xfrm>
            <a:custGeom>
              <a:avLst/>
              <a:gdLst/>
              <a:ahLst/>
              <a:cxnLst/>
              <a:rect r="r" b="b" t="t" l="l"/>
              <a:pathLst>
                <a:path h="1100836" w="677965">
                  <a:moveTo>
                    <a:pt x="53075" y="0"/>
                  </a:moveTo>
                  <a:lnTo>
                    <a:pt x="624891" y="0"/>
                  </a:lnTo>
                  <a:cubicBezTo>
                    <a:pt x="654203" y="0"/>
                    <a:pt x="677965" y="23762"/>
                    <a:pt x="677965" y="53075"/>
                  </a:cubicBezTo>
                  <a:lnTo>
                    <a:pt x="677965" y="1047762"/>
                  </a:lnTo>
                  <a:cubicBezTo>
                    <a:pt x="677965" y="1077074"/>
                    <a:pt x="654203" y="1100836"/>
                    <a:pt x="624891" y="1100836"/>
                  </a:cubicBezTo>
                  <a:lnTo>
                    <a:pt x="53075" y="1100836"/>
                  </a:lnTo>
                  <a:cubicBezTo>
                    <a:pt x="23762" y="1100836"/>
                    <a:pt x="0" y="1077074"/>
                    <a:pt x="0" y="1047762"/>
                  </a:cubicBezTo>
                  <a:lnTo>
                    <a:pt x="0" y="53075"/>
                  </a:lnTo>
                  <a:cubicBezTo>
                    <a:pt x="0" y="23762"/>
                    <a:pt x="23762" y="0"/>
                    <a:pt x="53075" y="0"/>
                  </a:cubicBezTo>
                  <a:close/>
                </a:path>
              </a:pathLst>
            </a:custGeom>
            <a:blipFill>
              <a:blip r:embed="rId3"/>
              <a:stretch>
                <a:fillRect l="-4090" t="0" r="-409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779123" y="4887905"/>
            <a:ext cx="1021146" cy="1344293"/>
          </a:xfrm>
          <a:custGeom>
            <a:avLst/>
            <a:gdLst/>
            <a:ahLst/>
            <a:cxnLst/>
            <a:rect r="r" b="b" t="t" l="l"/>
            <a:pathLst>
              <a:path h="1344293" w="1021146">
                <a:moveTo>
                  <a:pt x="0" y="0"/>
                </a:moveTo>
                <a:lnTo>
                  <a:pt x="1021145" y="0"/>
                </a:lnTo>
                <a:lnTo>
                  <a:pt x="1021145" y="1344293"/>
                </a:lnTo>
                <a:lnTo>
                  <a:pt x="0" y="13442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3951" y="7949110"/>
            <a:ext cx="1369498" cy="1721126"/>
          </a:xfrm>
          <a:custGeom>
            <a:avLst/>
            <a:gdLst/>
            <a:ahLst/>
            <a:cxnLst/>
            <a:rect r="r" b="b" t="t" l="l"/>
            <a:pathLst>
              <a:path h="1721126" w="1369498">
                <a:moveTo>
                  <a:pt x="0" y="0"/>
                </a:moveTo>
                <a:lnTo>
                  <a:pt x="1369498" y="0"/>
                </a:lnTo>
                <a:lnTo>
                  <a:pt x="1369498" y="1721125"/>
                </a:lnTo>
                <a:lnTo>
                  <a:pt x="0" y="1721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903739" y="530027"/>
            <a:ext cx="1397477" cy="1595516"/>
          </a:xfrm>
          <a:custGeom>
            <a:avLst/>
            <a:gdLst/>
            <a:ahLst/>
            <a:cxnLst/>
            <a:rect r="r" b="b" t="t" l="l"/>
            <a:pathLst>
              <a:path h="1595516" w="1397477">
                <a:moveTo>
                  <a:pt x="0" y="0"/>
                </a:moveTo>
                <a:lnTo>
                  <a:pt x="1397477" y="0"/>
                </a:lnTo>
                <a:lnTo>
                  <a:pt x="1397477" y="1595516"/>
                </a:lnTo>
                <a:lnTo>
                  <a:pt x="0" y="15955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108242"/>
            <a:ext cx="2412042" cy="1526165"/>
          </a:xfrm>
          <a:custGeom>
            <a:avLst/>
            <a:gdLst/>
            <a:ahLst/>
            <a:cxnLst/>
            <a:rect r="r" b="b" t="t" l="l"/>
            <a:pathLst>
              <a:path h="1526165" w="2412042">
                <a:moveTo>
                  <a:pt x="0" y="0"/>
                </a:moveTo>
                <a:lnTo>
                  <a:pt x="2412042" y="0"/>
                </a:lnTo>
                <a:lnTo>
                  <a:pt x="2412042" y="1526164"/>
                </a:lnTo>
                <a:lnTo>
                  <a:pt x="0" y="15261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666298" y="1990820"/>
            <a:ext cx="6593002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Emerging Coffee Trends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66298" y="8322945"/>
            <a:ext cx="6593002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Explore 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emerging trends such as technology integration, sustainable sourcing, alternative beverage innovations, and shifting consumer preferences for future strategic planning.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666298" y="6624475"/>
            <a:ext cx="5913607" cy="1325510"/>
            <a:chOff x="0" y="0"/>
            <a:chExt cx="7884810" cy="176734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1296834" y="532907"/>
              <a:ext cx="6587976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Adopt</a:t>
              </a:r>
              <a:r>
                <a:rPr lang="en-US" sz="18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ing eco-friendly packaging, ethical sourcing, and waste reduction supports environmental responsibility.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296834" y="-47625"/>
              <a:ext cx="658797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Sustainability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06060"/>
              <a:ext cx="86782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66298" y="4887905"/>
            <a:ext cx="5913607" cy="1325510"/>
            <a:chOff x="0" y="0"/>
            <a:chExt cx="7884810" cy="176734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1296834" y="532907"/>
              <a:ext cx="6587976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Integrat</a:t>
              </a:r>
              <a:r>
                <a:rPr lang="en-US" sz="18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ing mobile ordering, contactless payment, and loyalty programs enhances convenience and engagement.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296834" y="-47625"/>
              <a:ext cx="658797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Tech</a:t>
              </a:r>
              <a:r>
                <a:rPr lang="en-US" b="true" sz="21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nology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506060"/>
              <a:ext cx="86782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01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898082" y="370354"/>
            <a:ext cx="503115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3" b="true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Bright Coffee Shop</a:t>
            </a:r>
          </a:p>
        </p:txBody>
      </p:sp>
      <p:sp>
        <p:nvSpPr>
          <p:cNvPr name="TextBox 24" id="24"/>
          <p:cNvSpPr txBox="true"/>
          <p:nvPr/>
        </p:nvSpPr>
        <p:spPr>
          <a:xfrm rot="-404925">
            <a:off x="7917963" y="5410182"/>
            <a:ext cx="5031154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933" b="true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Bright Coffee Shop</a:t>
            </a:r>
          </a:p>
        </p:txBody>
      </p:sp>
      <p:sp>
        <p:nvSpPr>
          <p:cNvPr name="TextBox 25" id="25"/>
          <p:cNvSpPr txBox="true"/>
          <p:nvPr/>
        </p:nvSpPr>
        <p:spPr>
          <a:xfrm rot="-404925">
            <a:off x="6386483" y="5610371"/>
            <a:ext cx="5031154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933" b="true">
                <a:solidFill>
                  <a:srgbClr val="47351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Bright Coffee Shop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CB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8392" y="727039"/>
            <a:ext cx="15911215" cy="9559961"/>
          </a:xfrm>
          <a:custGeom>
            <a:avLst/>
            <a:gdLst/>
            <a:ahLst/>
            <a:cxnLst/>
            <a:rect r="r" b="b" t="t" l="l"/>
            <a:pathLst>
              <a:path h="9559961" w="15911215">
                <a:moveTo>
                  <a:pt x="0" y="0"/>
                </a:moveTo>
                <a:lnTo>
                  <a:pt x="15911216" y="0"/>
                </a:lnTo>
                <a:lnTo>
                  <a:pt x="15911216" y="9559961"/>
                </a:lnTo>
                <a:lnTo>
                  <a:pt x="0" y="955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779123" y="1022985"/>
            <a:ext cx="48017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779123" y="1175385"/>
            <a:ext cx="48017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779123" y="1327785"/>
            <a:ext cx="48017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1273425" y="8444424"/>
            <a:ext cx="7383352" cy="1008627"/>
            <a:chOff x="0" y="0"/>
            <a:chExt cx="9844469" cy="13448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4836" cy="1344836"/>
            </a:xfrm>
            <a:custGeom>
              <a:avLst/>
              <a:gdLst/>
              <a:ahLst/>
              <a:cxnLst/>
              <a:rect r="r" b="b" t="t" l="l"/>
              <a:pathLst>
                <a:path h="1344836" w="1344836">
                  <a:moveTo>
                    <a:pt x="0" y="0"/>
                  </a:moveTo>
                  <a:lnTo>
                    <a:pt x="1344836" y="0"/>
                  </a:lnTo>
                  <a:lnTo>
                    <a:pt x="1344836" y="1344836"/>
                  </a:lnTo>
                  <a:lnTo>
                    <a:pt x="0" y="1344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051150" y="288798"/>
              <a:ext cx="7793319" cy="558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69"/>
                </a:lnSpc>
                <a:spcBef>
                  <a:spcPct val="0"/>
                </a:spcBef>
              </a:pPr>
              <a:r>
                <a:rPr lang="en-US" b="true" sz="2621">
                  <a:solidFill>
                    <a:srgbClr val="E3CBB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inquiries@brightcoffee.com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8639175"/>
            <a:ext cx="3117460" cy="619125"/>
            <a:chOff x="0" y="0"/>
            <a:chExt cx="4156613" cy="825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5500" cy="825500"/>
            </a:xfrm>
            <a:custGeom>
              <a:avLst/>
              <a:gdLst/>
              <a:ahLst/>
              <a:cxnLst/>
              <a:rect r="r" b="b" t="t" l="l"/>
              <a:pathLst>
                <a:path h="825500" w="825500">
                  <a:moveTo>
                    <a:pt x="0" y="0"/>
                  </a:moveTo>
                  <a:lnTo>
                    <a:pt x="825500" y="0"/>
                  </a:lnTo>
                  <a:lnTo>
                    <a:pt x="825500" y="825500"/>
                  </a:lnTo>
                  <a:lnTo>
                    <a:pt x="0" y="82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259057" y="153035"/>
              <a:ext cx="289755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E3CBB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+123-456-7890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53726" y="8381956"/>
            <a:ext cx="5409157" cy="778558"/>
            <a:chOff x="0" y="0"/>
            <a:chExt cx="7212209" cy="10380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8078" cy="1038078"/>
            </a:xfrm>
            <a:custGeom>
              <a:avLst/>
              <a:gdLst/>
              <a:ahLst/>
              <a:cxnLst/>
              <a:rect r="r" b="b" t="t" l="l"/>
              <a:pathLst>
                <a:path h="1038078" w="1038078">
                  <a:moveTo>
                    <a:pt x="0" y="0"/>
                  </a:moveTo>
                  <a:lnTo>
                    <a:pt x="1038078" y="0"/>
                  </a:lnTo>
                  <a:lnTo>
                    <a:pt x="1038078" y="1038078"/>
                  </a:lnTo>
                  <a:lnTo>
                    <a:pt x="0" y="103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583281" y="214233"/>
              <a:ext cx="5628928" cy="5479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7"/>
                </a:lnSpc>
                <a:spcBef>
                  <a:spcPct val="0"/>
                </a:spcBef>
              </a:pPr>
              <a:r>
                <a:rPr lang="en-US" b="true" sz="2569">
                  <a:solidFill>
                    <a:srgbClr val="E3CBB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www.bright.coffee.shop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3362325"/>
            <a:ext cx="9068658" cy="337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1"/>
              </a:lnSpc>
            </a:pPr>
            <a:r>
              <a:rPr lang="en-US" sz="10384" b="true">
                <a:solidFill>
                  <a:srgbClr val="E3CBB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Thank You </a:t>
            </a:r>
          </a:p>
          <a:p>
            <a:pPr algn="l">
              <a:lnSpc>
                <a:spcPts val="12461"/>
              </a:lnSpc>
            </a:pPr>
            <a:r>
              <a:rPr lang="en-US" sz="10384" b="true">
                <a:solidFill>
                  <a:srgbClr val="E3CBB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call Again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684749" y="6918049"/>
            <a:ext cx="1369498" cy="1721126"/>
          </a:xfrm>
          <a:custGeom>
            <a:avLst/>
            <a:gdLst/>
            <a:ahLst/>
            <a:cxnLst/>
            <a:rect r="r" b="b" t="t" l="l"/>
            <a:pathLst>
              <a:path h="1721126" w="1369498">
                <a:moveTo>
                  <a:pt x="0" y="0"/>
                </a:moveTo>
                <a:lnTo>
                  <a:pt x="1369498" y="0"/>
                </a:lnTo>
                <a:lnTo>
                  <a:pt x="1369498" y="1721126"/>
                </a:lnTo>
                <a:lnTo>
                  <a:pt x="0" y="17211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51553" y="1878539"/>
            <a:ext cx="1021146" cy="1344293"/>
          </a:xfrm>
          <a:custGeom>
            <a:avLst/>
            <a:gdLst/>
            <a:ahLst/>
            <a:cxnLst/>
            <a:rect r="r" b="b" t="t" l="l"/>
            <a:pathLst>
              <a:path h="1344293" w="1021146">
                <a:moveTo>
                  <a:pt x="0" y="0"/>
                </a:moveTo>
                <a:lnTo>
                  <a:pt x="1021146" y="0"/>
                </a:lnTo>
                <a:lnTo>
                  <a:pt x="1021146" y="1344293"/>
                </a:lnTo>
                <a:lnTo>
                  <a:pt x="0" y="13442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59300" y="6980854"/>
            <a:ext cx="1397477" cy="1595516"/>
          </a:xfrm>
          <a:custGeom>
            <a:avLst/>
            <a:gdLst/>
            <a:ahLst/>
            <a:cxnLst/>
            <a:rect r="r" b="b" t="t" l="l"/>
            <a:pathLst>
              <a:path h="1595516" w="1397477">
                <a:moveTo>
                  <a:pt x="0" y="0"/>
                </a:moveTo>
                <a:lnTo>
                  <a:pt x="1397477" y="0"/>
                </a:lnTo>
                <a:lnTo>
                  <a:pt x="1397477" y="1595516"/>
                </a:lnTo>
                <a:lnTo>
                  <a:pt x="0" y="15955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DAHWy0Lb50Y</dc:identifier>
  <dcterms:modified xsi:type="dcterms:W3CDTF">2011-08-01T06:04:30Z</dcterms:modified>
  <cp:revision>1</cp:revision>
  <dc:title>Bright Coffee Shop  Presentation Presentation</dc:title>
</cp:coreProperties>
</file>